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8" r:id="rId3"/>
    <p:sldId id="257" r:id="rId4"/>
    <p:sldId id="258" r:id="rId5"/>
    <p:sldId id="259" r:id="rId6"/>
    <p:sldId id="260" r:id="rId7"/>
    <p:sldId id="261" r:id="rId8"/>
    <p:sldId id="262" r:id="rId9"/>
    <p:sldId id="263" r:id="rId10"/>
    <p:sldId id="264" r:id="rId11"/>
    <p:sldId id="265" r:id="rId12"/>
    <p:sldId id="266"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2" d="100"/>
          <a:sy n="62" d="100"/>
        </p:scale>
        <p:origin x="139"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Customer Satisfaction Prediction</a:t>
            </a:r>
          </a:p>
        </p:txBody>
      </p:sp>
      <p:sp>
        <p:nvSpPr>
          <p:cNvPr id="3" name="Content Placeholder 2"/>
          <p:cNvSpPr>
            <a:spLocks noGrp="1"/>
          </p:cNvSpPr>
          <p:nvPr>
            <p:ph type="subTitle" idx="1"/>
          </p:nvPr>
        </p:nvSpPr>
        <p:spPr/>
        <p:txBody>
          <a:bodyPr/>
          <a:lstStyle/>
          <a:p>
            <a:r>
              <a:t>Internship Project</a:t>
            </a:r>
          </a:p>
          <a:p>
            <a:r>
              <a:t>Afsana Shaikh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2FDBC-ED78-C19D-ED04-7C274C4D829B}"/>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7B362F09-99FF-8F52-8EEF-BA15B1E307E5}"/>
              </a:ext>
            </a:extLst>
          </p:cNvPr>
          <p:cNvSpPr>
            <a:spLocks noGrp="1"/>
          </p:cNvSpPr>
          <p:nvPr>
            <p:ph idx="1"/>
          </p:nvPr>
        </p:nvSpPr>
        <p:spPr/>
        <p:txBody>
          <a:bodyPr>
            <a:normAutofit/>
          </a:bodyPr>
          <a:lstStyle/>
          <a:p>
            <a:r>
              <a:rPr lang="en-US" sz="2600" dirty="0"/>
              <a:t>Customer satisfaction is a critical factor for business success, directly influencing customer retention and brand reputation. This project focuses on analyzing customer-related data and building a machine learning model to predict customer satisfaction levels. The study involves data understanding, exploratory data analysis (EDA), data preprocessing, model selection, evaluation, and interpretation of results. The final model provides insights into key factors influencing customer satisfaction and helps businesses make data-driven decisions.</a:t>
            </a:r>
            <a:endParaRPr lang="en-IN" sz="2600" dirty="0"/>
          </a:p>
        </p:txBody>
      </p:sp>
    </p:spTree>
    <p:extLst>
      <p:ext uri="{BB962C8B-B14F-4D97-AF65-F5344CB8AC3E}">
        <p14:creationId xmlns:p14="http://schemas.microsoft.com/office/powerpoint/2010/main" val="2659350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normAutofit/>
          </a:bodyPr>
          <a:lstStyle/>
          <a:p>
            <a:r>
              <a:rPr lang="en-US" sz="2600" dirty="0"/>
              <a:t>In today’s competitive market, understanding customer satisfaction is essential for organizations aiming to improve their products and services. Predictive analytics using machine learning enables companies to identify patterns in customer behavior and anticipate satisfaction levels. This internship project applies data science techniques to predict customer satisfaction based on historical data.</a:t>
            </a:r>
            <a:endParaRPr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5" name="Rectangle 2">
            <a:extLst>
              <a:ext uri="{FF2B5EF4-FFF2-40B4-BE49-F238E27FC236}">
                <a16:creationId xmlns:a16="http://schemas.microsoft.com/office/drawing/2014/main" id="{C3C84730-E8CD-332F-12E1-B0E81F2C8A8B}"/>
              </a:ext>
            </a:extLst>
          </p:cNvPr>
          <p:cNvSpPr>
            <a:spLocks noGrp="1" noChangeArrowheads="1"/>
          </p:cNvSpPr>
          <p:nvPr>
            <p:ph idx="1"/>
          </p:nvPr>
        </p:nvSpPr>
        <p:spPr bwMode="auto">
          <a:xfrm>
            <a:off x="457200" y="1336119"/>
            <a:ext cx="8515408"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altLang="en-US" sz="2600" b="0" i="0" u="none" strike="noStrike" cap="none" normalizeH="0" baseline="0" dirty="0">
                <a:ln>
                  <a:noFill/>
                </a:ln>
                <a:solidFill>
                  <a:schemeClr val="tx1"/>
                </a:solidFill>
                <a:effectLst/>
                <a:latin typeface="Arial" panose="020B0604020202020204" pitchFamily="34" charset="0"/>
              </a:rPr>
              <a:t>To understand and analyze customer satisfaction data</a:t>
            </a:r>
          </a:p>
          <a:p>
            <a:pPr defTabSz="914400" eaLnBrk="0" fontAlgn="base" hangingPunct="0">
              <a:spcBef>
                <a:spcPct val="0"/>
              </a:spcBef>
              <a:spcAft>
                <a:spcPct val="0"/>
              </a:spcAft>
            </a:pPr>
            <a:r>
              <a:rPr kumimoji="0" lang="en-US" altLang="en-US" sz="2600" b="0" i="0" u="none" strike="noStrike" cap="none" normalizeH="0" baseline="0" dirty="0">
                <a:ln>
                  <a:noFill/>
                </a:ln>
                <a:solidFill>
                  <a:schemeClr val="tx1"/>
                </a:solidFill>
                <a:effectLst/>
                <a:latin typeface="Arial" panose="020B0604020202020204" pitchFamily="34" charset="0"/>
              </a:rPr>
              <a:t>To perform exploratory data analysis (EDA)</a:t>
            </a:r>
          </a:p>
          <a:p>
            <a:pPr defTabSz="914400" eaLnBrk="0" fontAlgn="base" hangingPunct="0">
              <a:spcBef>
                <a:spcPct val="0"/>
              </a:spcBef>
              <a:spcAft>
                <a:spcPct val="0"/>
              </a:spcAft>
            </a:pPr>
            <a:r>
              <a:rPr kumimoji="0" lang="en-US" altLang="en-US" sz="2600" b="0" i="0" u="none" strike="noStrike" cap="none" normalizeH="0" baseline="0" dirty="0">
                <a:ln>
                  <a:noFill/>
                </a:ln>
                <a:solidFill>
                  <a:schemeClr val="tx1"/>
                </a:solidFill>
                <a:effectLst/>
                <a:latin typeface="Arial" panose="020B0604020202020204" pitchFamily="34" charset="0"/>
              </a:rPr>
              <a:t>To preprocess and prepare data for modeling</a:t>
            </a:r>
          </a:p>
          <a:p>
            <a:pPr defTabSz="914400" eaLnBrk="0" fontAlgn="base" hangingPunct="0">
              <a:spcBef>
                <a:spcPct val="0"/>
              </a:spcBef>
              <a:spcAft>
                <a:spcPct val="0"/>
              </a:spcAft>
            </a:pPr>
            <a:r>
              <a:rPr kumimoji="0" lang="en-US" altLang="en-US" sz="2600" b="0" i="0" u="none" strike="noStrike" cap="none" normalizeH="0" baseline="0" dirty="0">
                <a:ln>
                  <a:noFill/>
                </a:ln>
                <a:solidFill>
                  <a:schemeClr val="tx1"/>
                </a:solidFill>
                <a:effectLst/>
                <a:latin typeface="Arial" panose="020B0604020202020204" pitchFamily="34" charset="0"/>
              </a:rPr>
              <a:t>To build and evaluate machine learning models</a:t>
            </a:r>
          </a:p>
          <a:p>
            <a:pPr defTabSz="914400" eaLnBrk="0" fontAlgn="base" hangingPunct="0">
              <a:spcBef>
                <a:spcPct val="0"/>
              </a:spcBef>
              <a:spcAft>
                <a:spcPct val="0"/>
              </a:spcAft>
            </a:pPr>
            <a:r>
              <a:rPr kumimoji="0" lang="en-US" altLang="en-US" sz="2600" b="0" i="0" u="none" strike="noStrike" cap="none" normalizeH="0" baseline="0" dirty="0">
                <a:ln>
                  <a:noFill/>
                </a:ln>
                <a:solidFill>
                  <a:schemeClr val="tx1"/>
                </a:solidFill>
                <a:effectLst/>
                <a:latin typeface="Arial" panose="020B0604020202020204" pitchFamily="34" charset="0"/>
              </a:rPr>
              <a:t>To identify key factors affecting customer satisfaction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Description</a:t>
            </a:r>
          </a:p>
        </p:txBody>
      </p:sp>
      <p:sp>
        <p:nvSpPr>
          <p:cNvPr id="3" name="Content Placeholder 2"/>
          <p:cNvSpPr>
            <a:spLocks noGrp="1"/>
          </p:cNvSpPr>
          <p:nvPr>
            <p:ph idx="1"/>
          </p:nvPr>
        </p:nvSpPr>
        <p:spPr/>
        <p:txBody>
          <a:bodyPr>
            <a:normAutofit/>
          </a:bodyPr>
          <a:lstStyle/>
          <a:p>
            <a:pPr marL="0" indent="0">
              <a:buNone/>
            </a:pPr>
            <a:r>
              <a:rPr lang="en-US" sz="2600" dirty="0"/>
              <a:t>The dataset contains customer-related attributes such as demographics, service usage, and feedback metrics. These features are used to predict whether a customer is satisfied or not.</a:t>
            </a:r>
          </a:p>
          <a:p>
            <a:pPr marL="0" indent="0">
              <a:buNone/>
            </a:pPr>
            <a:r>
              <a:rPr lang="en-US" sz="2600" b="1" dirty="0"/>
              <a:t>Key Features</a:t>
            </a:r>
          </a:p>
          <a:p>
            <a:r>
              <a:rPr lang="en-US" sz="2600" dirty="0"/>
              <a:t>Customer demographic information</a:t>
            </a:r>
          </a:p>
          <a:p>
            <a:r>
              <a:rPr lang="en-US" sz="2600" dirty="0"/>
              <a:t>Service usage metrics</a:t>
            </a:r>
          </a:p>
          <a:p>
            <a:r>
              <a:rPr lang="en-US" sz="2600" dirty="0"/>
              <a:t>Feedback and rating attributes</a:t>
            </a:r>
          </a:p>
          <a:p>
            <a:r>
              <a:rPr lang="en-US" sz="2600" dirty="0"/>
              <a:t>Target variable: Customer Satisfaction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Methodology</a:t>
            </a:r>
          </a:p>
        </p:txBody>
      </p:sp>
      <p:sp>
        <p:nvSpPr>
          <p:cNvPr id="3" name="Content Placeholder 2"/>
          <p:cNvSpPr>
            <a:spLocks noGrp="1"/>
          </p:cNvSpPr>
          <p:nvPr>
            <p:ph idx="1"/>
          </p:nvPr>
        </p:nvSpPr>
        <p:spPr/>
        <p:txBody>
          <a:bodyPr>
            <a:noAutofit/>
          </a:bodyPr>
          <a:lstStyle/>
          <a:p>
            <a:pPr marL="0" indent="0">
              <a:buNone/>
            </a:pPr>
            <a:r>
              <a:rPr lang="en-US" sz="2500" b="1" dirty="0"/>
              <a:t>1 Data Understanding</a:t>
            </a:r>
          </a:p>
          <a:p>
            <a:r>
              <a:rPr lang="en-US" sz="2500" dirty="0"/>
              <a:t>The initial step involved loading the dataset and examining its structure, data types, and size. Missing values, duplicate records, and inconsistent entries were identified.</a:t>
            </a:r>
          </a:p>
          <a:p>
            <a:pPr marL="0" indent="0">
              <a:buNone/>
            </a:pPr>
            <a:r>
              <a:rPr lang="en-US" sz="2500" b="1" dirty="0"/>
              <a:t>2 Exploratory Data Analysis (EDA)</a:t>
            </a:r>
          </a:p>
          <a:p>
            <a:r>
              <a:rPr lang="en-US" sz="2500" dirty="0"/>
              <a:t>EDA was conducted to uncover patterns and relationships within the data using:</a:t>
            </a:r>
          </a:p>
          <a:p>
            <a:r>
              <a:rPr lang="en-US" sz="2500" dirty="0"/>
              <a:t>Descriptive statistics</a:t>
            </a:r>
          </a:p>
          <a:p>
            <a:r>
              <a:rPr lang="en-US" sz="2500" dirty="0"/>
              <a:t>Distribution plots</a:t>
            </a:r>
          </a:p>
          <a:p>
            <a:r>
              <a:rPr lang="en-US" sz="2500" dirty="0"/>
              <a:t>Correlation analysis</a:t>
            </a:r>
          </a:p>
          <a:p>
            <a:r>
              <a:rPr lang="en-US" sz="2500" dirty="0"/>
              <a:t>Visualization using Matplotlib and Seaborn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2422"/>
            <a:ext cx="8229600" cy="5903741"/>
          </a:xfrm>
        </p:spPr>
        <p:txBody>
          <a:bodyPr>
            <a:normAutofit/>
          </a:bodyPr>
          <a:lstStyle/>
          <a:p>
            <a:pPr marL="0" indent="0">
              <a:buNone/>
            </a:pPr>
            <a:r>
              <a:rPr lang="en-US" b="1" dirty="0"/>
              <a:t>3 Data Preprocessing</a:t>
            </a:r>
          </a:p>
          <a:p>
            <a:pPr marL="0" indent="0">
              <a:buNone/>
            </a:pPr>
            <a:r>
              <a:rPr lang="en-US" dirty="0"/>
              <a:t>Data preprocessing steps included:</a:t>
            </a:r>
          </a:p>
          <a:p>
            <a:r>
              <a:rPr lang="en-US" dirty="0"/>
              <a:t>Handling missing values</a:t>
            </a:r>
          </a:p>
          <a:p>
            <a:r>
              <a:rPr lang="en-US" dirty="0"/>
              <a:t>Encoding categorical variables</a:t>
            </a:r>
          </a:p>
          <a:p>
            <a:r>
              <a:rPr lang="en-US" dirty="0"/>
              <a:t>Feature scaling</a:t>
            </a:r>
          </a:p>
          <a:p>
            <a:r>
              <a:rPr lang="en-US" dirty="0"/>
              <a:t>Splitting data into training and testing sets</a:t>
            </a:r>
          </a:p>
          <a:p>
            <a:pPr marL="0" indent="0">
              <a:buNone/>
            </a:pPr>
            <a:r>
              <a:rPr lang="en-US" b="1" dirty="0"/>
              <a:t>4 Model Building</a:t>
            </a:r>
          </a:p>
          <a:p>
            <a:pPr marL="0" indent="0">
              <a:buNone/>
            </a:pPr>
            <a:r>
              <a:rPr lang="en-US" dirty="0"/>
              <a:t>Multiple machine learning models were trained and evaluated, including:</a:t>
            </a:r>
          </a:p>
          <a:p>
            <a:r>
              <a:rPr lang="en-US" dirty="0"/>
              <a:t>Random Forest Classifier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96562"/>
            <a:ext cx="8229600" cy="5829601"/>
          </a:xfrm>
        </p:spPr>
        <p:txBody>
          <a:bodyPr/>
          <a:lstStyle/>
          <a:p>
            <a:pPr marL="0" indent="0">
              <a:buNone/>
            </a:pPr>
            <a:r>
              <a:rPr lang="en-US" b="1" dirty="0"/>
              <a:t>5 Model Evaluation</a:t>
            </a:r>
          </a:p>
          <a:p>
            <a:pPr marL="0" indent="0">
              <a:buNone/>
            </a:pPr>
            <a:r>
              <a:rPr lang="en-US" dirty="0"/>
              <a:t>Models were evaluated using metrics such as:</a:t>
            </a:r>
          </a:p>
          <a:p>
            <a:r>
              <a:rPr lang="en-US" dirty="0"/>
              <a:t>Accuracy</a:t>
            </a:r>
          </a:p>
          <a:p>
            <a:r>
              <a:rPr lang="en-US" dirty="0"/>
              <a:t>Precision</a:t>
            </a:r>
          </a:p>
          <a:p>
            <a:r>
              <a:rPr lang="en-US" dirty="0"/>
              <a:t>Recall</a:t>
            </a:r>
          </a:p>
          <a:p>
            <a:r>
              <a:rPr lang="en-US" dirty="0"/>
              <a:t>F1-score</a:t>
            </a:r>
          </a:p>
          <a:p>
            <a:pPr marL="0" indent="0">
              <a:buNone/>
            </a:pPr>
            <a:r>
              <a:rPr lang="en-US" dirty="0"/>
              <a:t>The best-performing model was selected based on overall performance.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Results and Discussion</a:t>
            </a:r>
            <a:endParaRPr dirty="0"/>
          </a:p>
        </p:txBody>
      </p:sp>
      <p:sp>
        <p:nvSpPr>
          <p:cNvPr id="3" name="Content Placeholder 2"/>
          <p:cNvSpPr>
            <a:spLocks noGrp="1"/>
          </p:cNvSpPr>
          <p:nvPr>
            <p:ph idx="1"/>
          </p:nvPr>
        </p:nvSpPr>
        <p:spPr/>
        <p:txBody>
          <a:bodyPr>
            <a:normAutofit/>
          </a:bodyPr>
          <a:lstStyle/>
          <a:p>
            <a:r>
              <a:rPr lang="en-US" sz="2600" dirty="0"/>
              <a:t>The Random Forest model achieved the highest accuracy among the tested algorithms. Feature importance analysis revealed that service quality, response time, and customer feedback scores were the most influential factors affecting customer satisfaction. Visualizations helped in understanding trends and relationships, enabling better interpretation of results.</a:t>
            </a:r>
            <a:endParaRPr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a:bodyPr>
          <a:lstStyle/>
          <a:p>
            <a:r>
              <a:rPr lang="en-US" sz="2600" dirty="0"/>
              <a:t>This project successfully demonstrated the application of data science and machine learning techniques to predict customer satisfaction. The developed model can assist organizations in identifying dissatisfied customers early and improving service quality. The project enhanced practical skills in data analysis, model building, and evaluation.</a:t>
            </a:r>
            <a:endParaRPr sz="2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Scope</a:t>
            </a:r>
          </a:p>
        </p:txBody>
      </p:sp>
      <p:sp>
        <p:nvSpPr>
          <p:cNvPr id="3" name="Content Placeholder 2"/>
          <p:cNvSpPr>
            <a:spLocks noGrp="1"/>
          </p:cNvSpPr>
          <p:nvPr>
            <p:ph idx="1"/>
          </p:nvPr>
        </p:nvSpPr>
        <p:spPr/>
        <p:txBody>
          <a:bodyPr>
            <a:normAutofit/>
          </a:bodyPr>
          <a:lstStyle/>
          <a:p>
            <a:r>
              <a:rPr lang="en-US" sz="2600" dirty="0"/>
              <a:t>Incorporating more customer behavior data </a:t>
            </a:r>
          </a:p>
          <a:p>
            <a:r>
              <a:rPr lang="en-US" sz="2600" dirty="0"/>
              <a:t>Applying advanced models such as </a:t>
            </a:r>
            <a:r>
              <a:rPr lang="en-US" sz="2600" dirty="0" err="1"/>
              <a:t>XGBoost</a:t>
            </a:r>
            <a:r>
              <a:rPr lang="en-US" sz="2600" dirty="0"/>
              <a:t> or Neural Networks</a:t>
            </a:r>
          </a:p>
          <a:p>
            <a:r>
              <a:rPr lang="en-US" sz="2600" dirty="0"/>
              <a:t>Deploying the model using a web application </a:t>
            </a:r>
          </a:p>
          <a:p>
            <a:r>
              <a:rPr lang="en-US" sz="2600" dirty="0"/>
              <a:t>Real-time customer satisfaction monitoring</a:t>
            </a:r>
            <a:endParaRPr sz="2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Tools and Technologies Used</a:t>
            </a:r>
            <a:endParaRPr dirty="0"/>
          </a:p>
        </p:txBody>
      </p:sp>
      <p:sp>
        <p:nvSpPr>
          <p:cNvPr id="3" name="Content Placeholder 2"/>
          <p:cNvSpPr>
            <a:spLocks noGrp="1"/>
          </p:cNvSpPr>
          <p:nvPr>
            <p:ph idx="1"/>
          </p:nvPr>
        </p:nvSpPr>
        <p:spPr/>
        <p:txBody>
          <a:bodyPr/>
          <a:lstStyle/>
          <a:p>
            <a:r>
              <a:rPr lang="en-IN" dirty="0"/>
              <a:t>Python </a:t>
            </a:r>
          </a:p>
          <a:p>
            <a:r>
              <a:rPr lang="en-IN" dirty="0"/>
              <a:t>Pandas, NumPy </a:t>
            </a:r>
          </a:p>
          <a:p>
            <a:r>
              <a:rPr lang="en-IN" dirty="0"/>
              <a:t>Matplotlib, Seaborn </a:t>
            </a:r>
          </a:p>
          <a:p>
            <a:r>
              <a:rPr lang="en-IN" dirty="0"/>
              <a:t>Scikit-learn </a:t>
            </a:r>
          </a:p>
          <a:p>
            <a:r>
              <a:rPr lang="en-IN" dirty="0" err="1"/>
              <a:t>Jupyter</a:t>
            </a:r>
            <a:r>
              <a:rPr lang="en-IN" dirty="0"/>
              <a:t> Notebook </a:t>
            </a:r>
          </a:p>
          <a:p>
            <a:r>
              <a:rPr lang="en-IN" dirty="0"/>
              <a:t>Git and GitHub</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TotalTime>
  <Words>507</Words>
  <Application>Microsoft Office PowerPoint</Application>
  <PresentationFormat>On-screen Show (4:3)</PresentationFormat>
  <Paragraphs>61</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Customer Satisfaction Prediction</vt:lpstr>
      <vt:lpstr>Abstract</vt:lpstr>
      <vt:lpstr>Introduction</vt:lpstr>
      <vt:lpstr>Objectives</vt:lpstr>
      <vt:lpstr>Dataset Description</vt:lpstr>
      <vt:lpstr>Methodology</vt:lpstr>
      <vt:lpstr>PowerPoint Presentation</vt:lpstr>
      <vt:lpstr>PowerPoint Presentation</vt:lpstr>
      <vt:lpstr>Results and Discussion</vt:lpstr>
      <vt:lpstr>Conclusion</vt:lpstr>
      <vt:lpstr>Future Scope</vt:lpstr>
      <vt:lpstr>Tools and Technologies Used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AFSANA SHAIKH</dc:creator>
  <cp:keywords/>
  <dc:description>generated using python-pptx</dc:description>
  <cp:lastModifiedBy>AFSANA</cp:lastModifiedBy>
  <cp:revision>2</cp:revision>
  <dcterms:created xsi:type="dcterms:W3CDTF">2013-01-27T09:14:16Z</dcterms:created>
  <dcterms:modified xsi:type="dcterms:W3CDTF">2025-12-27T14:39:04Z</dcterms:modified>
  <cp:category/>
</cp:coreProperties>
</file>